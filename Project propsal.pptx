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70" r:id="rId9"/>
    <p:sldId id="271" r:id="rId10"/>
    <p:sldId id="267" r:id="rId11"/>
    <p:sldId id="266" r:id="rId12"/>
    <p:sldId id="265" r:id="rId13"/>
    <p:sldId id="272" r:id="rId14"/>
    <p:sldId id="269" r:id="rId15"/>
    <p:sldId id="264" r:id="rId16"/>
    <p:sldId id="274" r:id="rId17"/>
    <p:sldId id="273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CB8B21-ABCD-4BB0-9E82-3B8760E1DFF3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30BCAB-C392-46DA-B2BC-51A64FB49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26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0BCAB-C392-46DA-B2BC-51A64FB49D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6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0BCAB-C392-46DA-B2BC-51A64FB49D1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797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950E-5E66-4190-9320-286612BD6DC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24F3-FD9B-43D7-B55B-C3E09659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411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950E-5E66-4190-9320-286612BD6DC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24F3-FD9B-43D7-B55B-C3E09659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20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950E-5E66-4190-9320-286612BD6DC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24F3-FD9B-43D7-B55B-C3E09659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80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950E-5E66-4190-9320-286612BD6DC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24F3-FD9B-43D7-B55B-C3E09659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37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950E-5E66-4190-9320-286612BD6DC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24F3-FD9B-43D7-B55B-C3E09659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96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950E-5E66-4190-9320-286612BD6DC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24F3-FD9B-43D7-B55B-C3E09659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17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950E-5E66-4190-9320-286612BD6DC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24F3-FD9B-43D7-B55B-C3E09659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48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950E-5E66-4190-9320-286612BD6DC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24F3-FD9B-43D7-B55B-C3E09659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10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950E-5E66-4190-9320-286612BD6DC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24F3-FD9B-43D7-B55B-C3E09659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35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950E-5E66-4190-9320-286612BD6DC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24F3-FD9B-43D7-B55B-C3E09659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2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950E-5E66-4190-9320-286612BD6DC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24F3-FD9B-43D7-B55B-C3E09659A36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4275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950E-5E66-4190-9320-286612BD6DC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24F3-FD9B-43D7-B55B-C3E09659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246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950E-5E66-4190-9320-286612BD6DC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24F3-FD9B-43D7-B55B-C3E09659A36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9383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950E-5E66-4190-9320-286612BD6DC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24F3-FD9B-43D7-B55B-C3E09659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52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950E-5E66-4190-9320-286612BD6DC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24F3-FD9B-43D7-B55B-C3E09659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606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950E-5E66-4190-9320-286612BD6DC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24F3-FD9B-43D7-B55B-C3E09659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E950E-5E66-4190-9320-286612BD6DC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6F124F3-FD9B-43D7-B55B-C3E09659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84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5" name="Group 2054">
            <a:extLst>
              <a:ext uri="{FF2B5EF4-FFF2-40B4-BE49-F238E27FC236}">
                <a16:creationId xmlns:a16="http://schemas.microsoft.com/office/drawing/2014/main" id="{1F2B4773-3207-44CC-B7AC-892B70498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56" name="Straight Connector 2055">
              <a:extLst>
                <a:ext uri="{FF2B5EF4-FFF2-40B4-BE49-F238E27FC236}">
                  <a16:creationId xmlns:a16="http://schemas.microsoft.com/office/drawing/2014/main" id="{2B8267CA-A7A5-4E11-9D92-4EAC3DD3E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7" name="Straight Connector 2056">
              <a:extLst>
                <a:ext uri="{FF2B5EF4-FFF2-40B4-BE49-F238E27FC236}">
                  <a16:creationId xmlns:a16="http://schemas.microsoft.com/office/drawing/2014/main" id="{E83D61B5-C6B4-4A4B-85AD-FEE7A5491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58" name="Rectangle 23">
              <a:extLst>
                <a:ext uri="{FF2B5EF4-FFF2-40B4-BE49-F238E27FC236}">
                  <a16:creationId xmlns:a16="http://schemas.microsoft.com/office/drawing/2014/main" id="{A0B67FE4-688F-4497-8BFD-157613A69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59" name="Rectangle 25">
              <a:extLst>
                <a:ext uri="{FF2B5EF4-FFF2-40B4-BE49-F238E27FC236}">
                  <a16:creationId xmlns:a16="http://schemas.microsoft.com/office/drawing/2014/main" id="{3BF5BE1A-9BAC-4581-A82B-FD8FE3159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60" name="Isosceles Triangle 2059">
              <a:extLst>
                <a:ext uri="{FF2B5EF4-FFF2-40B4-BE49-F238E27FC236}">
                  <a16:creationId xmlns:a16="http://schemas.microsoft.com/office/drawing/2014/main" id="{971E5644-6772-414A-8199-E30BFB02A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61" name="Rectangle 27">
              <a:extLst>
                <a:ext uri="{FF2B5EF4-FFF2-40B4-BE49-F238E27FC236}">
                  <a16:creationId xmlns:a16="http://schemas.microsoft.com/office/drawing/2014/main" id="{E8246D50-BB0C-408E-93FD-7B8D63A7F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62" name="Rectangle 28">
              <a:extLst>
                <a:ext uri="{FF2B5EF4-FFF2-40B4-BE49-F238E27FC236}">
                  <a16:creationId xmlns:a16="http://schemas.microsoft.com/office/drawing/2014/main" id="{AFBC5D22-68C1-44FB-8181-CB84ECAA8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63" name="Rectangle 29">
              <a:extLst>
                <a:ext uri="{FF2B5EF4-FFF2-40B4-BE49-F238E27FC236}">
                  <a16:creationId xmlns:a16="http://schemas.microsoft.com/office/drawing/2014/main" id="{FB6D0FCE-FBDB-4655-A1A7-640B1E86B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64" name="Isosceles Triangle 2063">
              <a:extLst>
                <a:ext uri="{FF2B5EF4-FFF2-40B4-BE49-F238E27FC236}">
                  <a16:creationId xmlns:a16="http://schemas.microsoft.com/office/drawing/2014/main" id="{BC8157DF-FD90-4AD6-B803-3AC0ACD8E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65" name="Isosceles Triangle 2064">
              <a:extLst>
                <a:ext uri="{FF2B5EF4-FFF2-40B4-BE49-F238E27FC236}">
                  <a16:creationId xmlns:a16="http://schemas.microsoft.com/office/drawing/2014/main" id="{3548B067-9D63-4D21-92EF-CBC9E6338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067" name="Rectangle 2066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069" name="Rectangle 2068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71" name="Straight Connector 2070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3" name="Straight Connector 2072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5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77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79" name="Isosceles Triangle 2078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81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83" name="Isosceles Triangle 2082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85" name="Freeform: Shape 2084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D2EE31-7A8C-2089-2FEB-21A0572B2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81723" y="609600"/>
            <a:ext cx="4512989" cy="22277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3100" b="1" i="1">
                <a:solidFill>
                  <a:srgbClr val="FFFFFF"/>
                </a:solidFill>
              </a:rPr>
              <a:t>Designing </a:t>
            </a:r>
            <a:r>
              <a:rPr lang="en-US" altLang="en-US" sz="3100" b="1" i="1" dirty="0">
                <a:solidFill>
                  <a:srgbClr val="FFFFFF"/>
                </a:solidFill>
              </a:rPr>
              <a:t>Stable, Non-Speculative Incentives </a:t>
            </a:r>
            <a:r>
              <a:rPr lang="en-US" altLang="en-US" sz="3100" i="1" dirty="0">
                <a:solidFill>
                  <a:srgbClr val="FFFFFF"/>
                </a:solidFill>
              </a:rPr>
              <a:t>for Sustainable Agriculture using IoT and Distributed Ledgers</a:t>
            </a:r>
            <a:endParaRPr lang="en-US" sz="31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06E25-AB96-0ED2-0EC7-AE3CA5FB6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98737" y="3258457"/>
            <a:ext cx="4912304" cy="22277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buFont typeface="Wingdings 3" charset="2"/>
              <a:buChar char=""/>
            </a:pPr>
            <a:r>
              <a:rPr lang="en-US" sz="2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Candidate</a:t>
            </a:r>
            <a:r>
              <a:rPr lang="en-US" dirty="0">
                <a:solidFill>
                  <a:srgbClr val="FFFFFF"/>
                </a:solidFill>
              </a:rPr>
              <a:t>: Abedalrahman </a:t>
            </a:r>
            <a:r>
              <a:rPr lang="ar-SA" dirty="0">
                <a:solidFill>
                  <a:srgbClr val="FFFFFF"/>
                </a:solidFill>
              </a:rPr>
              <a:t>)</a:t>
            </a:r>
            <a:r>
              <a:rPr lang="en-US" dirty="0">
                <a:solidFill>
                  <a:srgbClr val="FFFFFF"/>
                </a:solidFill>
              </a:rPr>
              <a:t>Abdu) Chams Aldeen</a:t>
            </a:r>
          </a:p>
          <a:p>
            <a:pPr algn="l"/>
            <a:endParaRPr lang="en-US" altLang="en-US" dirty="0">
              <a:solidFill>
                <a:srgbClr val="FFFFFF"/>
              </a:solidFill>
            </a:endParaRPr>
          </a:p>
        </p:txBody>
      </p:sp>
      <p:pic>
        <p:nvPicPr>
          <p:cNvPr id="2066" name="Picture 18" descr="Generated image">
            <a:extLst>
              <a:ext uri="{FF2B5EF4-FFF2-40B4-BE49-F238E27FC236}">
                <a16:creationId xmlns:a16="http://schemas.microsoft.com/office/drawing/2014/main" id="{593380E1-E335-FBA2-87B7-EAC55ECB9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888" y="1801799"/>
            <a:ext cx="3336272" cy="333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593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B9264-9555-6812-ABA8-E415C5550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About The Candidate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289E7-CFF1-0C63-72F6-A0DE68C6F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MSc Agricultural Engineering – </a:t>
            </a:r>
            <a:r>
              <a:rPr lang="en-US" sz="2200" dirty="0" err="1"/>
              <a:t>Politecnico</a:t>
            </a:r>
            <a:r>
              <a:rPr lang="en-US" sz="2200" dirty="0"/>
              <a:t> di Milano.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Precision Agriculture &amp; IoT</a:t>
            </a:r>
            <a:r>
              <a:rPr lang="en-US" dirty="0"/>
              <a:t> – Industrial Technologies for Precision Agriculture &amp; Smart irrigation systems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Systems &amp; Stability</a:t>
            </a:r>
            <a:r>
              <a:rPr lang="en-US" dirty="0"/>
              <a:t> – Control Systems for Smart Agriculture, Analysis II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Data &amp; Modeling</a:t>
            </a:r>
            <a:r>
              <a:rPr lang="en-US" dirty="0"/>
              <a:t> – Data Harvesting &amp; Data Analysis for Agriculture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Adoption &amp; Policy</a:t>
            </a:r>
            <a:r>
              <a:rPr lang="en-US" dirty="0"/>
              <a:t> – Agri-Food Supply Chain Management, Economics &amp; Policy for Agriculture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Sustainability</a:t>
            </a:r>
            <a:r>
              <a:rPr lang="en-US" dirty="0"/>
              <a:t> – Sustainability Assessment in Agriculture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Master’s Thesis:</a:t>
            </a:r>
            <a:r>
              <a:rPr lang="en-US" dirty="0"/>
              <a:t> </a:t>
            </a:r>
            <a:r>
              <a:rPr lang="en-US" sz="1600" dirty="0"/>
              <a:t>Designing Stable, Outcome-Linked Incentive Mechanisms for Sustainable Nitrogen Management Using IoT and Blockchain</a:t>
            </a:r>
            <a:endParaRPr lang="en-US" sz="1600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  <p:pic>
        <p:nvPicPr>
          <p:cNvPr id="3076" name="Picture 4" descr="Polimi - YouTube">
            <a:extLst>
              <a:ext uri="{FF2B5EF4-FFF2-40B4-BE49-F238E27FC236}">
                <a16:creationId xmlns:a16="http://schemas.microsoft.com/office/drawing/2014/main" id="{763CF9D9-57A8-1286-A590-C8CCE7427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09" y="615407"/>
            <a:ext cx="1314993" cy="131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5181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41965-3EB9-21CB-3B59-6D33111A1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A Dual Crisis in Agriculture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47868-D975-321F-2386-571F3EB32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863635"/>
            <a:ext cx="9328815" cy="4177728"/>
          </a:xfrm>
        </p:spPr>
        <p:txBody>
          <a:bodyPr>
            <a:normAutofit/>
          </a:bodyPr>
          <a:lstStyle/>
          <a:p>
            <a:r>
              <a:rPr lang="en-US" sz="2400" b="1" dirty="0"/>
              <a:t>Ecological Angle:</a:t>
            </a:r>
            <a:endParaRPr lang="en-US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70% of global freshwater</a:t>
            </a:r>
            <a:r>
              <a:rPr lang="en-US" dirty="0"/>
              <a:t> is used by agriculture → </a:t>
            </a:r>
            <a:r>
              <a:rPr lang="en-US" dirty="0" err="1"/>
              <a:t>AgriLiraX</a:t>
            </a:r>
            <a:r>
              <a:rPr lang="en-US" dirty="0"/>
              <a:t> incentivizes precision irrigation.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78% of eutrophication</a:t>
            </a:r>
            <a:r>
              <a:rPr lang="en-US" dirty="0"/>
              <a:t> comes from agriculture → </a:t>
            </a:r>
            <a:r>
              <a:rPr lang="en-US" dirty="0" err="1"/>
              <a:t>AgriLiraX</a:t>
            </a:r>
            <a:r>
              <a:rPr lang="en-US" dirty="0"/>
              <a:t> rewards smart fertilization.</a:t>
            </a:r>
          </a:p>
          <a:p>
            <a:r>
              <a:rPr lang="en-US" sz="2400" b="1" dirty="0"/>
              <a:t>Economic Angle: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Farmers face </a:t>
            </a:r>
            <a:r>
              <a:rPr lang="en-US" b="1" dirty="0"/>
              <a:t>thin margins</a:t>
            </a:r>
            <a:r>
              <a:rPr lang="en-US" dirty="0"/>
              <a:t> → </a:t>
            </a:r>
            <a:r>
              <a:rPr lang="en-US" dirty="0" err="1"/>
              <a:t>AgriLiraX</a:t>
            </a:r>
            <a:r>
              <a:rPr lang="en-US" dirty="0"/>
              <a:t> reduces adoption risk.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Food systems impose </a:t>
            </a:r>
            <a:r>
              <a:rPr lang="en-US" b="1" dirty="0"/>
              <a:t>$10–12.7T/year in hidden costs</a:t>
            </a:r>
            <a:r>
              <a:rPr lang="en-US" dirty="0"/>
              <a:t> → </a:t>
            </a:r>
            <a:r>
              <a:rPr lang="en-US" dirty="0" err="1"/>
              <a:t>AgriLiraX</a:t>
            </a:r>
            <a:r>
              <a:rPr lang="en-US" dirty="0"/>
              <a:t> links value to solutions.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Only </a:t>
            </a:r>
            <a:r>
              <a:rPr lang="en-US" b="1" dirty="0"/>
              <a:t>20% of land is irrigated but produces 40% of food</a:t>
            </a:r>
            <a:r>
              <a:rPr lang="en-US" dirty="0"/>
              <a:t> → </a:t>
            </a:r>
            <a:r>
              <a:rPr lang="en-US" dirty="0" err="1"/>
              <a:t>AgriLiraX</a:t>
            </a:r>
            <a:r>
              <a:rPr lang="en-US" dirty="0"/>
              <a:t> accelerates investment in irrigation</a:t>
            </a:r>
            <a:r>
              <a:rPr lang="en-US" sz="2100" dirty="0"/>
              <a:t>.</a:t>
            </a:r>
          </a:p>
          <a:p>
            <a:pPr marL="0" indent="0">
              <a:buNone/>
            </a:pPr>
            <a:endParaRPr lang="en-US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49717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52699-40DD-99EE-79B5-FC65D65B2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accent2"/>
                </a:solidFill>
              </a:rPr>
              <a:t>Why Current Solutions Fall Short</a:t>
            </a:r>
            <a:br>
              <a:rPr lang="en-US">
                <a:solidFill>
                  <a:schemeClr val="accent2"/>
                </a:solidFill>
              </a:rPr>
            </a:b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D1CAE-13FE-A6E0-FDB7-5DF173D78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26029"/>
            <a:ext cx="6485466" cy="4702628"/>
          </a:xfrm>
        </p:spPr>
        <p:txBody>
          <a:bodyPr>
            <a:normAutofit/>
          </a:bodyPr>
          <a:lstStyle/>
          <a:p>
            <a:r>
              <a:rPr lang="en-US" sz="2200" b="1" u="sng" dirty="0"/>
              <a:t>Problems with Subsidies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b="1" dirty="0"/>
              <a:t>Reward actions, not outcomes</a:t>
            </a:r>
            <a:r>
              <a:rPr lang="en-US" dirty="0"/>
              <a:t> → Most agri-environmental payments are </a:t>
            </a:r>
            <a:r>
              <a:rPr lang="en-US" b="1" dirty="0"/>
              <a:t>practice-based</a:t>
            </a:r>
            <a:r>
              <a:rPr lang="en-US" dirty="0"/>
              <a:t> and underperform; OECD recommends moving to </a:t>
            </a:r>
            <a:r>
              <a:rPr lang="en-US" b="1" dirty="0"/>
              <a:t>results-based/hybrid</a:t>
            </a:r>
            <a:r>
              <a:rPr lang="en-US" dirty="0"/>
              <a:t>. </a:t>
            </a:r>
            <a:r>
              <a:rPr lang="en-US" i="1" dirty="0"/>
              <a:t>(OECD)</a:t>
            </a:r>
            <a:endParaRPr lang="en-US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b="1" dirty="0"/>
              <a:t>Favor large farms</a:t>
            </a:r>
            <a:r>
              <a:rPr lang="en-US" dirty="0"/>
              <a:t> → ~20% of farms capture ~80% of EU CAP direct payments; similar concentration seen in US programs. </a:t>
            </a:r>
            <a:r>
              <a:rPr lang="en-US" i="1" dirty="0"/>
              <a:t>(EU Commission, USDA)</a:t>
            </a:r>
            <a:endParaRPr lang="en-US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b="1" dirty="0"/>
              <a:t>Slow &amp; bureaucratic</a:t>
            </a:r>
            <a:r>
              <a:rPr lang="en-US" dirty="0"/>
              <a:t> → CAP “greening” added complexity but little impact (~5% farmland affected); limited real-time feedback. </a:t>
            </a:r>
            <a:r>
              <a:rPr lang="en-US" i="1" dirty="0"/>
              <a:t>(EU Auditors, OECD)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304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49C90-36B3-7F4C-A797-28EF35AE7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1505C-3B94-FF5B-6E1A-13CEA6FF1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Why Current Solutions Fall Short</a:t>
            </a:r>
            <a:br>
              <a:rPr lang="en-US" dirty="0">
                <a:solidFill>
                  <a:schemeClr val="accent2"/>
                </a:solidFill>
              </a:rPr>
            </a:b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5F94F-8422-4E32-77D8-B4ABF93E6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26029"/>
            <a:ext cx="5919410" cy="4517571"/>
          </a:xfrm>
        </p:spPr>
        <p:txBody>
          <a:bodyPr>
            <a:normAutofit/>
          </a:bodyPr>
          <a:lstStyle/>
          <a:p>
            <a:r>
              <a:rPr lang="en-US" sz="2200" b="1" u="sng" dirty="0"/>
              <a:t>Problems with Crypto in Ag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Speculation over utility</a:t>
            </a:r>
            <a:r>
              <a:rPr lang="en-US" dirty="0"/>
              <a:t> → Much attention goes to </a:t>
            </a:r>
            <a:r>
              <a:rPr lang="en-US" b="1" dirty="0"/>
              <a:t>tradable tokens</a:t>
            </a:r>
            <a:r>
              <a:rPr lang="en-US" dirty="0"/>
              <a:t> (e.g., </a:t>
            </a:r>
            <a:r>
              <a:rPr lang="en-US" dirty="0" err="1"/>
              <a:t>Agrotoken</a:t>
            </a:r>
            <a:r>
              <a:rPr lang="en-US" dirty="0"/>
              <a:t>); non-token blockchain pilots (traceability, record-keeping) remain small. </a:t>
            </a:r>
            <a:r>
              <a:rPr lang="en-US" i="1" dirty="0"/>
              <a:t>(World Bank, FAO)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Volatility farmers can’t absorb</a:t>
            </a:r>
            <a:r>
              <a:rPr lang="en-US" dirty="0"/>
              <a:t> → </a:t>
            </a:r>
            <a:r>
              <a:rPr lang="en-US" dirty="0" err="1"/>
              <a:t>Cryptoassets</a:t>
            </a:r>
            <a:r>
              <a:rPr lang="en-US" dirty="0"/>
              <a:t> are highly volatile; risky for working capital/input purchases. </a:t>
            </a:r>
            <a:r>
              <a:rPr lang="en-US" i="1" dirty="0"/>
              <a:t>(BIS, IMF)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Limited real-world impact</a:t>
            </a:r>
            <a:r>
              <a:rPr lang="en-US" dirty="0"/>
              <a:t> → Many pilots remain early-stage, focused on traceability; farm-level benefits still small. </a:t>
            </a:r>
            <a:r>
              <a:rPr lang="en-US" i="1" dirty="0"/>
              <a:t>(FAO, systematic reviews)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624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2B451-AB26-3ED2-BE59-5054E2A29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06" y="620485"/>
            <a:ext cx="9239552" cy="1320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The Solution: An Outcome-Linked Utility Token</a:t>
            </a:r>
            <a:br>
              <a:rPr lang="en-US" b="1" dirty="0">
                <a:solidFill>
                  <a:schemeClr val="accent2"/>
                </a:solidFill>
              </a:rPr>
            </a:b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BA4EB-3ECF-0B39-6D86-F667EEBEA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80457"/>
            <a:ext cx="8651723" cy="4560905"/>
          </a:xfrm>
        </p:spPr>
        <p:txBody>
          <a:bodyPr/>
          <a:lstStyle/>
          <a:p>
            <a:r>
              <a:rPr lang="en-US" sz="2200" b="1" dirty="0"/>
              <a:t>Core Properties:</a:t>
            </a: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Outcome-Linked:</a:t>
            </a:r>
            <a:r>
              <a:rPr lang="en-US" dirty="0"/>
              <a:t> Minted only for verified improvements (e.g., nitrogen-use efficiency).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Non-Tradable:</a:t>
            </a:r>
            <a:r>
              <a:rPr lang="en-US" dirty="0"/>
              <a:t> No secondary market, preventing speculation.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Redemption-Backed:</a:t>
            </a:r>
            <a:r>
              <a:rPr lang="en-US" dirty="0"/>
              <a:t> Each token can be redeemed against a central program fund for a fixed </a:t>
            </a:r>
            <a:r>
              <a:rPr lang="en-US" b="1" dirty="0"/>
              <a:t>service credit or rebate value</a:t>
            </a:r>
            <a:r>
              <a:rPr lang="en-US" dirty="0"/>
              <a:t>, capped to ensure stability (e.g., up to €1 equivalent per token)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Program-Controlled Dynamics:</a:t>
            </a:r>
            <a:r>
              <a:rPr lang="en-US" dirty="0"/>
              <a:t> Redemption value can adjust </a:t>
            </a:r>
            <a:r>
              <a:rPr lang="en-US" b="1" dirty="0"/>
              <a:t>between periods</a:t>
            </a:r>
            <a:r>
              <a:rPr lang="en-US" dirty="0"/>
              <a:t> (based on budgets/outcomes), but never through market trading.</a:t>
            </a:r>
          </a:p>
        </p:txBody>
      </p:sp>
    </p:spTree>
    <p:extLst>
      <p:ext uri="{BB962C8B-B14F-4D97-AF65-F5344CB8AC3E}">
        <p14:creationId xmlns:p14="http://schemas.microsoft.com/office/powerpoint/2010/main" val="780516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FCCA6-A08A-EF78-A0B7-EEC5DD65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Mechanism Design: A Dynamic, Adoption-Linked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4C107-C7A1-13DE-A60A-07BD51D6D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token’s redemption value is rule-based, not market-priced. It evolves as a direct function of system-wide adoption outcomes and program budget, creating a feedback loop that rewards participants as the network succeeds — while remaining non-tradable and stable.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016AEB-CD55-2116-45C8-A054698E2DFE}"/>
                  </a:ext>
                </a:extLst>
              </p:cNvPr>
              <p:cNvSpPr txBox="1"/>
              <p:nvPr/>
            </p:nvSpPr>
            <p:spPr>
              <a:xfrm>
                <a:off x="1048076" y="3556690"/>
                <a:ext cx="859666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𝑉𝑡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𝑏𝑎𝑠𝑒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016AEB-CD55-2116-45C8-A054698E2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076" y="3556690"/>
                <a:ext cx="8596668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6D3C26-9BE9-B55E-4F6D-5E2A2FE345F1}"/>
                  </a:ext>
                </a:extLst>
              </p:cNvPr>
              <p:cNvSpPr txBox="1"/>
              <p:nvPr/>
            </p:nvSpPr>
            <p:spPr>
              <a:xfrm>
                <a:off x="677334" y="3879855"/>
                <a:ext cx="7961116" cy="15560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𝑏𝑎𝑠𝑒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kern="100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​</a:t>
                </a:r>
                <a:r>
                  <a:rPr lang="en-US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A base value to ensure initial trust.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 A policy parameter controlling feedback strength.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A function that could be linear, logistic (S-shaped), etc. The shape of this function is a key research question.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6D3C26-9BE9-B55E-4F6D-5E2A2FE34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34" y="3879855"/>
                <a:ext cx="7961116" cy="1556003"/>
              </a:xfrm>
              <a:prstGeom prst="rect">
                <a:avLst/>
              </a:prstGeom>
              <a:blipFill>
                <a:blip r:embed="rId3"/>
                <a:stretch>
                  <a:fillRect l="-613" t="-781" b="-5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2F1B019-9CFC-187F-0F48-7E47D2289904}"/>
              </a:ext>
            </a:extLst>
          </p:cNvPr>
          <p:cNvSpPr txBox="1"/>
          <p:nvPr/>
        </p:nvSpPr>
        <p:spPr>
          <a:xfrm>
            <a:off x="546706" y="5540641"/>
            <a:ext cx="93810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u="sng" dirty="0"/>
              <a:t>*(The redemption value is backed by a central Ecosystem Fund, ensuring farmers can always claim a minimum level of services or support)</a:t>
            </a:r>
          </a:p>
        </p:txBody>
      </p:sp>
    </p:spTree>
    <p:extLst>
      <p:ext uri="{BB962C8B-B14F-4D97-AF65-F5344CB8AC3E}">
        <p14:creationId xmlns:p14="http://schemas.microsoft.com/office/powerpoint/2010/main" val="99506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A1D62-B08B-3D73-6407-6508A3F3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How Tokens Are Minted and Redeemed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B286B5-62EF-FF15-306E-8FA7B00389A1}"/>
                  </a:ext>
                </a:extLst>
              </p:cNvPr>
              <p:cNvSpPr txBox="1"/>
              <p:nvPr/>
            </p:nvSpPr>
            <p:spPr>
              <a:xfrm>
                <a:off x="95359" y="1186663"/>
                <a:ext cx="9035142" cy="33178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latin typeface="Aptos" panose="020B00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1- The redemption rule ( suggested ) </a:t>
                </a:r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4572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endParaRPr lang="en-US" sz="1800" b="1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4572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1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200" b="1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en-US" sz="2200" b="1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𝒕</m:t>
                          </m:r>
                        </m:sub>
                      </m:sSub>
                      <m:r>
                        <a:rPr lang="en-US" sz="22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2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𝒎𝒊𝒏</m:t>
                      </m:r>
                      <m:r>
                        <a:rPr lang="en-US" sz="22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sz="2200" b="1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US" sz="2200" b="1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</m:acc>
                      <m:r>
                        <a:rPr lang="en-US" sz="22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,</m:t>
                      </m:r>
                      <m:f>
                        <m:fPr>
                          <m:ctrlPr>
                            <a:rPr lang="en-US" sz="2200" b="1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1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sz="2200" b="1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b="1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2200" b="1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𝒕𝒐𝒕𝒂𝒍</m:t>
                              </m:r>
                            </m:sub>
                          </m:sSub>
                        </m:den>
                      </m:f>
                      <m:r>
                        <a:rPr lang="en-US" sz="22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sz="22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4572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endParaRPr lang="en-US" sz="20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4572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𝒕</m:t>
                          </m:r>
                        </m:sub>
                      </m:sSub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 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𝒓𝒆𝒅𝒆𝒎𝒑𝒕𝒊𝒐𝒏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𝒃𝒖𝒅𝒈𝒆𝒕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𝒑𝒐𝒐𝒍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𝒐𝒇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𝒔𝒖𝒑𝒑𝒐𝒓𝒕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𝒖𝒏𝒊𝒕𝒔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𝒕𝒐𝒕𝒂𝒍</m:t>
                          </m:r>
                        </m:sub>
                      </m:sSub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 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𝒕𝒐𝒕𝒂𝒍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𝒕𝒐𝒌𝒆𝒏𝒔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𝒎𝒊𝒏𝒕𝒆𝒅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𝒅𝒓𝒊𝒗𝒆𝒏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𝒃𝒚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𝒂𝒅𝒐𝒑𝒕𝒊𝒐𝒏</m:t>
                          </m:r>
                        </m:e>
                      </m:d>
                    </m:oMath>
                  </m:oMathPara>
                </a14:m>
                <a:br>
                  <a:rPr lang="en-US" sz="2000" b="1" i="1" kern="10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</m:acc>
                    <m:r>
                      <a:rPr lang="en-US" sz="20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/>
                      <m:t>cap</m:t>
                    </m:r>
                    <m:r>
                      <m:rPr>
                        <m:nor/>
                      </m:rPr>
                      <a:rPr lang="en-US" sz="2000"/>
                      <m:t> (</m:t>
                    </m:r>
                    <m:r>
                      <m:rPr>
                        <m:nor/>
                      </m:rPr>
                      <a:rPr lang="en-US" sz="2000"/>
                      <m:t>e</m:t>
                    </m:r>
                    <m:r>
                      <m:rPr>
                        <m:nor/>
                      </m:rPr>
                      <a:rPr lang="en-US" sz="2000"/>
                      <m:t>.</m:t>
                    </m:r>
                    <m:r>
                      <m:rPr>
                        <m:nor/>
                      </m:rPr>
                      <a:rPr lang="en-US" sz="2000"/>
                      <m:t>g</m:t>
                    </m:r>
                    <m:r>
                      <m:rPr>
                        <m:nor/>
                      </m:rPr>
                      <a:rPr lang="en-US" sz="2000"/>
                      <m:t>., </m:t>
                    </m:r>
                    <m:r>
                      <m:rPr>
                        <m:nor/>
                      </m:rPr>
                      <a:rPr lang="en-US" sz="2000"/>
                      <m:t>equivalent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to</m:t>
                    </m:r>
                    <m:r>
                      <m:rPr>
                        <m:nor/>
                      </m:rPr>
                      <a:rPr lang="en-US" sz="2000"/>
                      <m:t> €1 </m:t>
                    </m:r>
                    <m:r>
                      <m:rPr>
                        <m:nor/>
                      </m:rPr>
                      <a:rPr lang="en-US" sz="2000"/>
                      <m:t>worth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of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services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or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rebates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per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token</m:t>
                    </m:r>
                    <m:r>
                      <m:rPr>
                        <m:nor/>
                      </m:rPr>
                      <a:rPr lang="en-US" sz="2000"/>
                      <m:t>)</m:t>
                    </m:r>
                  </m:oMath>
                </a14:m>
                <a:r>
                  <a:rPr lang="en-US" sz="1800" b="1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</a:t>
                </a:r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B286B5-62EF-FF15-306E-8FA7B0038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59" y="1186663"/>
                <a:ext cx="9035142" cy="3317896"/>
              </a:xfrm>
              <a:prstGeom prst="rect">
                <a:avLst/>
              </a:prstGeom>
              <a:blipFill>
                <a:blip r:embed="rId2"/>
                <a:stretch>
                  <a:fillRect t="-184" b="-12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8BF95A8-3537-26BC-E478-F30B2209F4C3}"/>
              </a:ext>
            </a:extLst>
          </p:cNvPr>
          <p:cNvSpPr txBox="1"/>
          <p:nvPr/>
        </p:nvSpPr>
        <p:spPr>
          <a:xfrm>
            <a:off x="496402" y="4927601"/>
            <a:ext cx="87058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</a:rPr>
              <a:t>Total payouts can </a:t>
            </a:r>
            <a:r>
              <a:rPr lang="en-US" i="1" dirty="0">
                <a:solidFill>
                  <a:schemeClr val="accent5"/>
                </a:solidFill>
              </a:rPr>
              <a:t>never exceed the budget</a:t>
            </a:r>
            <a:r>
              <a:rPr lang="en-US" dirty="0">
                <a:solidFill>
                  <a:schemeClr val="accent5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</a:rPr>
              <a:t>Every farmer gets the </a:t>
            </a:r>
            <a:r>
              <a:rPr lang="en-US" i="1" dirty="0">
                <a:solidFill>
                  <a:schemeClr val="accent5"/>
                </a:solidFill>
              </a:rPr>
              <a:t>same transparent rate</a:t>
            </a:r>
            <a:r>
              <a:rPr lang="en-US" dirty="0">
                <a:solidFill>
                  <a:schemeClr val="accent5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</a:rPr>
              <a:t>Optional </a:t>
            </a:r>
            <a:r>
              <a:rPr lang="en-US" i="1" dirty="0">
                <a:solidFill>
                  <a:schemeClr val="accent5"/>
                </a:solidFill>
              </a:rPr>
              <a:t>smoothing function</a:t>
            </a:r>
            <a:r>
              <a:rPr lang="en-US" dirty="0">
                <a:solidFill>
                  <a:schemeClr val="accent5"/>
                </a:solidFill>
              </a:rPr>
              <a:t> keeps values stable over time.</a:t>
            </a:r>
          </a:p>
        </p:txBody>
      </p:sp>
    </p:spTree>
    <p:extLst>
      <p:ext uri="{BB962C8B-B14F-4D97-AF65-F5344CB8AC3E}">
        <p14:creationId xmlns:p14="http://schemas.microsoft.com/office/powerpoint/2010/main" val="2164507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2295F-C85F-8D92-69EE-736299FC2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How Tokens Are Minted and Redeemed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DFA65B-7304-975D-BAC5-F0AE7509EE97}"/>
                  </a:ext>
                </a:extLst>
              </p:cNvPr>
              <p:cNvSpPr txBox="1"/>
              <p:nvPr/>
            </p:nvSpPr>
            <p:spPr>
              <a:xfrm>
                <a:off x="111581" y="1270000"/>
                <a:ext cx="10817677" cy="3267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2. The minting rule ( suggested )</a:t>
                </a:r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R="0" lvl="0">
                  <a:lnSpc>
                    <a:spcPct val="115000"/>
                  </a:lnSpc>
                  <a:spcAft>
                    <a:spcPts val="800"/>
                  </a:spcAft>
                  <a:buSzPts val="1000"/>
                  <a:tabLst>
                    <a:tab pos="457200" algn="l"/>
                  </a:tabLst>
                </a:pPr>
                <a:br>
                  <a:rPr lang="en-US" dirty="0"/>
                </a:br>
                <a:endParaRPr lang="en-US" dirty="0"/>
              </a:p>
              <a:p>
                <a:pPr marL="342900" marR="0" lvl="0" indent="-34290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endParaRPr lang="en-US" b="1" i="1" dirty="0"/>
              </a:p>
              <a:p>
                <a:pPr marL="342900" marR="0" lvl="0" indent="-34290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𝒕𝒐𝒌𝒆𝒏𝒔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𝒇𝒐𝒓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𝒇𝒂𝒓𝒎𝒆𝒓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endParaRPr lang="en-US" b="1" i="1" dirty="0"/>
              </a:p>
              <a:p>
                <a:pPr marL="342900" marR="0" lvl="0" indent="-34290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𝑶</m:t>
                        </m:r>
                      </m:e>
                      <m:sub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  <m:sup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p>
                    </m:sSubSup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𝐦𝐚𝐱</m:t>
                    </m:r>
                    <m:r>
                      <a:rPr lang="en-US" sz="1800" b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⁡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,</m:t>
                    </m:r>
                    <m:sSubSup>
                      <m:sSubSupPr>
                        <m:ctrlP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𝑶</m:t>
                        </m:r>
                      </m:e>
                      <m:sub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  <m:sup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𝒃𝒂𝒔𝒆𝒍𝒊𝒏𝒆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p>
                    </m:sSubSup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</m:t>
                    </m:r>
                    <m:sSubSup>
                      <m:sSubSupPr>
                        <m:ctrlP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𝑶</m:t>
                        </m:r>
                      </m:e>
                      <m:sub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  <m:sup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𝒐𝒃𝒔𝒆𝒓𝒗𝒆𝒅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p>
                    </m:sSubSup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𝝉</m:t>
                        </m:r>
                      </m:e>
                      <m:sub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𝒗𝒆𝒓𝒊𝒇𝒊𝒆𝒅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𝒊𝒎𝒑𝒓𝒐𝒗𝒆𝒎𝒆𝒏𝒕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𝒂𝒃𝒐𝒗𝒆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𝒏𝒐𝒊𝒔𝒆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𝒕𝒉𝒓𝒆𝒔𝒉𝒐𝒍𝒅</m:t>
                    </m:r>
                    <m:r>
                      <a:rPr lang="en-US" sz="1800" b="1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sz="1800" b="1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𝜷</m:t>
                        </m:r>
                      </m:e>
                      <m:sub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 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𝒃𝒐𝒏𝒖𝒔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𝒇𝒂𝒄𝒕𝒐𝒓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𝒆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𝒈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., 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𝒆𝒂𝒓𝒍𝒚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𝒂𝒅𝒐𝒑𝒕𝒆𝒓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𝒑𝒓𝒊𝒐𝒓𝒊𝒕𝒚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𝒓𝒆𝒈𝒊𝒐𝒏</m:t>
                        </m:r>
                      </m:e>
                    </m:d>
                  </m:oMath>
                </a14:m>
                <a:endParaRPr lang="en-US" sz="1800" b="1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𝜿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 </m:t>
                    </m:r>
                  </m:oMath>
                </a14:m>
                <a:r>
                  <a:rPr lang="en-US" sz="1800" b="1" i="1" kern="10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scaling factor (tokens per unit improvement)</a:t>
                </a:r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DFA65B-7304-975D-BAC5-F0AE7509E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81" y="1270000"/>
                <a:ext cx="10817677" cy="3267498"/>
              </a:xfrm>
              <a:prstGeom prst="rect">
                <a:avLst/>
              </a:prstGeom>
              <a:blipFill>
                <a:blip r:embed="rId2"/>
                <a:stretch>
                  <a:fillRect b="-1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912FB7-5D28-9BC2-3996-200CE7146661}"/>
                  </a:ext>
                </a:extLst>
              </p:cNvPr>
              <p:cNvSpPr txBox="1"/>
              <p:nvPr/>
            </p:nvSpPr>
            <p:spPr>
              <a:xfrm>
                <a:off x="2245179" y="2016966"/>
                <a:ext cx="6101442" cy="484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5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500" b="0" i="0">
                          <a:latin typeface="Cambria Math" panose="02040503050406030204" pitchFamily="18" charset="0"/>
                        </a:rPr>
                        <m:t>​=</m:t>
                      </m:r>
                      <m:r>
                        <a:rPr lang="en-US" sz="2500" b="1" i="1">
                          <a:latin typeface="Cambria Math" panose="02040503050406030204" pitchFamily="18" charset="0"/>
                        </a:rPr>
                        <m:t>𝜿</m:t>
                      </m:r>
                      <m:r>
                        <a:rPr lang="en-US" sz="2500" b="0" i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25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500" b="0" i="0">
                          <a:latin typeface="Cambria Math" panose="02040503050406030204" pitchFamily="18" charset="0"/>
                        </a:rPr>
                        <m:t>​ </m:t>
                      </m:r>
                      <m:r>
                        <a:rPr lang="en-US" sz="2500" b="1" i="1">
                          <a:latin typeface="Cambria Math" panose="02040503050406030204" pitchFamily="18" charset="0"/>
                        </a:rPr>
                        <m:t>𝜟</m:t>
                      </m:r>
                      <m:sSubSup>
                        <m:sSubSupPr>
                          <m:ctrlPr>
                            <a:rPr lang="en-US" sz="25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500" b="1" i="1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lang="en-US" sz="25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2500" b="0" i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sz="2500" b="0" i="0">
                          <a:latin typeface="Cambria Math" panose="02040503050406030204" pitchFamily="18" charset="0"/>
                        </a:rPr>
                        <m:t>​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912FB7-5D28-9BC2-3996-200CE7146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179" y="2016966"/>
                <a:ext cx="6101442" cy="4847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5100A17-0383-43DE-C3FB-8D2221B80CB7}"/>
              </a:ext>
            </a:extLst>
          </p:cNvPr>
          <p:cNvSpPr txBox="1"/>
          <p:nvPr/>
        </p:nvSpPr>
        <p:spPr>
          <a:xfrm>
            <a:off x="427264" y="5013850"/>
            <a:ext cx="61014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</a:rPr>
              <a:t>Based on </a:t>
            </a:r>
            <a:r>
              <a:rPr lang="en-US" i="1" dirty="0">
                <a:solidFill>
                  <a:schemeClr val="accent5"/>
                </a:solidFill>
              </a:rPr>
              <a:t>verified improvements</a:t>
            </a:r>
            <a:r>
              <a:rPr lang="en-US" dirty="0">
                <a:solidFill>
                  <a:schemeClr val="accent5"/>
                </a:solidFill>
              </a:rPr>
              <a:t> (sensors + baseline).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</a:rPr>
              <a:t>Includes </a:t>
            </a:r>
            <a:r>
              <a:rPr lang="en-US" i="1" dirty="0">
                <a:solidFill>
                  <a:schemeClr val="accent5"/>
                </a:solidFill>
              </a:rPr>
              <a:t>thresholds and audits</a:t>
            </a:r>
            <a:r>
              <a:rPr lang="en-US" dirty="0">
                <a:solidFill>
                  <a:schemeClr val="accent5"/>
                </a:solidFill>
              </a:rPr>
              <a:t> to prevent gaming.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</a:rPr>
              <a:t>Bonus factors reward </a:t>
            </a:r>
            <a:r>
              <a:rPr lang="en-US" i="1" dirty="0">
                <a:solidFill>
                  <a:schemeClr val="accent5"/>
                </a:solidFill>
              </a:rPr>
              <a:t>early adopters</a:t>
            </a:r>
            <a:r>
              <a:rPr lang="en-US" dirty="0">
                <a:solidFill>
                  <a:schemeClr val="accent5"/>
                </a:solidFill>
              </a:rPr>
              <a:t> or </a:t>
            </a:r>
            <a:r>
              <a:rPr lang="en-US" i="1" dirty="0">
                <a:solidFill>
                  <a:schemeClr val="accent5"/>
                </a:solidFill>
              </a:rPr>
              <a:t>priority regions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3920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352C1-0B52-A9A3-B17D-083403590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6A962-BCF1-79ED-2311-EC91528C6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Value Is Redeemed (Budget Safety &amp; Stability)</a:t>
            </a:r>
          </a:p>
          <a:p>
            <a:pPr marL="0" indent="0">
              <a:buNone/>
            </a:pP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Redemption is capped, budget-safe, and stable.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Treasury fund sets max payout per cycle.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Per-token redemption credit = min(cap, Fund ÷ Tokens), where the cap is set to an equivalent of €1 worth of services or benefits. 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Every farmer redeems at the same rate (transparent &amp; fair).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 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Always within budget; smoothing dampens volatility.</a:t>
            </a:r>
            <a:endParaRPr lang="en-US" dirty="0"/>
          </a:p>
          <a:p>
            <a:pPr marL="0" indent="0">
              <a:buNone/>
            </a:pP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47542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942DC-0D6E-5217-26FA-66C982C2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Mechanism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DBDCA-1B2A-348F-D00A-A875D17D4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It Works (Minting &amp; Verification)</a:t>
            </a:r>
          </a:p>
          <a:p>
            <a:pPr marL="0" indent="0">
              <a:buNone/>
            </a:pP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Reward only verified, </a:t>
            </a:r>
            <a:r>
              <a:rPr lang="en-US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mesurable</a:t>
            </a: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improvements.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Farmers submit IoT data → compared to modeled baseline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Only positive, significant outcomes count (noise filter + audits) 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Tokens minted proportional to verified impact × bonus factors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Tokens are non-tradable, tied to farmer identity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533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E995C-8CAA-2A33-2734-47F58F2EF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Methodology: </a:t>
            </a:r>
            <a:r>
              <a:rPr lang="en-US" dirty="0"/>
              <a:t>Agent-Based Model (ABM)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432D6-C61D-A501-0F07-4190AD5FD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en-US" dirty="0"/>
              <a:t>I will use a bottom-up simulation to explore how diverse farmers react to this new incentive.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DB1631-050E-597E-8FEF-1CCD067D61E4}"/>
                  </a:ext>
                </a:extLst>
              </p:cNvPr>
              <p:cNvSpPr txBox="1"/>
              <p:nvPr/>
            </p:nvSpPr>
            <p:spPr>
              <a:xfrm>
                <a:off x="677334" y="2448104"/>
                <a:ext cx="9761764" cy="13566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latin typeface="Aptos" panose="020B00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 Agents: </a:t>
                </a:r>
                <a:r>
                  <a:rPr lang="en-US" sz="18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N farmers, each with unique traits (costs, risk aversion, social connections).</a:t>
                </a:r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800" b="1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 Decision Rule: Farmers adopt the practice if their expected utility is positive 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endParaRPr lang="en-US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𝒑𝒓𝒐𝒇𝒊𝒕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𝑪𝒐𝒔𝒕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𝑻𝒐𝒌𝒆𝒏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𝑹𝒆𝒘𝒂𝒓𝒅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𝑺𝒐𝒄𝒊𝒂𝒍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𝑰𝒏𝒇𝒖𝒆𝒏𝒄𝒆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𝑹𝒊𝒔𝒌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DB1631-050E-597E-8FEF-1CCD067D6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34" y="2448104"/>
                <a:ext cx="9761764" cy="1356653"/>
              </a:xfrm>
              <a:prstGeom prst="rect">
                <a:avLst/>
              </a:prstGeom>
              <a:blipFill>
                <a:blip r:embed="rId3"/>
                <a:stretch>
                  <a:fillRect l="-500" t="-450" b="-2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6B5021-3021-D5B9-CF6F-55512EBAE713}"/>
                  </a:ext>
                </a:extLst>
              </p:cNvPr>
              <p:cNvSpPr txBox="1"/>
              <p:nvPr/>
            </p:nvSpPr>
            <p:spPr>
              <a:xfrm>
                <a:off x="1074500" y="4776103"/>
                <a:ext cx="8782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i="1" dirty="0"/>
                  <a:t>Utility of farmer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/>
                  <a:t>at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i="1" dirty="0"/>
                  <a:t>: adoption occurs if expected utility is positive.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6B5021-3021-D5B9-CF6F-55512EBAE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500" y="4776103"/>
                <a:ext cx="8782050" cy="369332"/>
              </a:xfrm>
              <a:prstGeom prst="rect">
                <a:avLst/>
              </a:prstGeom>
              <a:blipFill>
                <a:blip r:embed="rId4"/>
                <a:stretch>
                  <a:fillRect l="-555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4118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1B614-82CF-71E1-8DF5-84ED7B422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Staying Outside </a:t>
            </a:r>
            <a:r>
              <a:rPr lang="en-US" sz="3200" b="1" dirty="0" err="1"/>
              <a:t>MiCA</a:t>
            </a:r>
            <a:r>
              <a:rPr lang="en-US" sz="3200" b="1" dirty="0"/>
              <a:t> – While Still Paying in Euros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EC2BE-05E6-DDEE-0D9F-78AE99D70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17915"/>
            <a:ext cx="9163352" cy="422344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Design Choices</a:t>
            </a:r>
          </a:p>
          <a:p>
            <a:pPr lvl="0"/>
            <a:r>
              <a:rPr lang="en-US" b="1" dirty="0"/>
              <a:t>Non-transferable tokens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/>
              <a:t>Farmers cannot trade or sell tokens to others.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/>
              <a:t>Tokens act as </a:t>
            </a:r>
            <a:r>
              <a:rPr lang="en-US" b="1" i="1" dirty="0"/>
              <a:t>reward points</a:t>
            </a:r>
            <a:r>
              <a:rPr lang="en-US" b="1" dirty="0"/>
              <a:t> tied to verified outcomes.</a:t>
            </a:r>
            <a:endParaRPr lang="en-US" dirty="0"/>
          </a:p>
          <a:p>
            <a:pPr lvl="0"/>
            <a:r>
              <a:rPr lang="en-US" b="1" dirty="0"/>
              <a:t>Variable redemption (no fixed €1 peg)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/>
              <a:t>Euro payout = Budget ÷ Total Tokens each cycle.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/>
              <a:t>Value per token adjusts with adoption and available funds.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/>
              <a:t>Avoids “stablecoin” classification.</a:t>
            </a:r>
            <a:endParaRPr lang="en-US" dirty="0"/>
          </a:p>
          <a:p>
            <a:pPr lvl="0"/>
            <a:r>
              <a:rPr lang="en-US" b="1" dirty="0"/>
              <a:t>Framed as a reward program, not digital money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/>
              <a:t>Tokens = </a:t>
            </a:r>
            <a:r>
              <a:rPr lang="en-US" b="1" i="1" dirty="0"/>
              <a:t>claim on sustainability rewards</a:t>
            </a:r>
            <a:r>
              <a:rPr lang="en-US" b="1" dirty="0"/>
              <a:t>, not a euro substitute.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/>
              <a:t>Euro redemption is described as a rebate / grant payout, not e-money.</a:t>
            </a:r>
            <a:endParaRPr lang="en-US" dirty="0"/>
          </a:p>
          <a:p>
            <a:pPr lvl="0"/>
            <a:r>
              <a:rPr lang="en-US" b="1" dirty="0"/>
              <a:t>Closed network of services + optional cash-out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/>
              <a:t>Primary use: redeem tokens for approved precision-agriculture services.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419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A8372-2259-0D8E-289D-9E7060329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5" y="174171"/>
            <a:ext cx="9372600" cy="1295400"/>
          </a:xfrm>
        </p:spPr>
        <p:txBody>
          <a:bodyPr>
            <a:normAutofit/>
          </a:bodyPr>
          <a:lstStyle/>
          <a:p>
            <a:r>
              <a:rPr lang="en-US" sz="3200" dirty="0" err="1">
                <a:solidFill>
                  <a:schemeClr val="accent2"/>
                </a:solidFill>
              </a:rPr>
              <a:t>AgriLiraX</a:t>
            </a:r>
            <a:r>
              <a:rPr lang="en-US" sz="3200" dirty="0">
                <a:solidFill>
                  <a:schemeClr val="accent2"/>
                </a:solidFill>
              </a:rPr>
              <a:t>: Designed to Avoid Speculation &amp; Volatility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9255EDC-D805-C932-566D-82660F3C4E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643362"/>
              </p:ext>
            </p:extLst>
          </p:nvPr>
        </p:nvGraphicFramePr>
        <p:xfrm>
          <a:off x="644677" y="1687285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229">
                <a:tc>
                  <a:txBody>
                    <a:bodyPr/>
                    <a:lstStyle/>
                    <a:p>
                      <a:pPr algn="ctr"/>
                      <a: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AgriLiraX (PhD Token)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Carbon Credits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Change farmer behavior by rewarding verified outcomes.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Offset emissions for buyers via reductions/removals.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t>Transferability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Non-tradable → no speculation.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Tradable → market volatility.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t>Value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Program-defined redemption rate ,1 token = 1 service credit, or capped equivalent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Market price via supply/demand.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t>Who pays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Ecosystem fund: govt, CSR, insurers,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Offset buyers purchase credits.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t>Primary research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Mechanism design &amp; stability of adoption incentives.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Market design &amp; credit integrity.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964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B9377-B6BA-E7B5-6329-C4C65322E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Core Research Questions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DEE99DA-7EC4-4D6D-B85B-C3726AE96B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4497" y="1525944"/>
            <a:ext cx="8919762" cy="275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is structured around 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three possible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questions.</a:t>
            </a:r>
            <a:endParaRPr kumimoji="0" lang="ar-SA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just">
              <a:buFont typeface="+mj-lt"/>
              <a:buAutoNum type="arabicPeriod"/>
            </a:pPr>
            <a:r>
              <a:rPr lang="en-US" b="1" dirty="0"/>
              <a:t>How can we design the reward system, so it always stays within budget and still motivates farmers to adopt?</a:t>
            </a:r>
            <a:endParaRPr lang="en-US" dirty="0"/>
          </a:p>
          <a:p>
            <a:pPr lvl="0" algn="just">
              <a:buFont typeface="+mj-lt"/>
              <a:buAutoNum type="arabicPeriod"/>
            </a:pPr>
            <a:r>
              <a:rPr lang="en-US" b="1" dirty="0"/>
              <a:t>What will farmers actually do when offered tokens they can redeem for useful services or support?</a:t>
            </a:r>
          </a:p>
          <a:p>
            <a:pPr lvl="0" algn="just">
              <a:buFont typeface="+mj-lt"/>
              <a:buAutoNum type="arabicPeriod"/>
            </a:pPr>
            <a:r>
              <a:rPr lang="en-US" b="1" dirty="0"/>
              <a:t>How does this outcome-based token compare to existing tools like carbon credits or traditional subsidies?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268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65255-FA84-F609-5D7C-9A08A55C5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Blockchain decision For The Token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33C442-CC38-9E4D-C3CA-9A24A53BCF9E}"/>
              </a:ext>
            </a:extLst>
          </p:cNvPr>
          <p:cNvSpPr txBox="1"/>
          <p:nvPr/>
        </p:nvSpPr>
        <p:spPr>
          <a:xfrm>
            <a:off x="677334" y="1458963"/>
            <a:ext cx="6101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Suggested Choice: Ethereum L2 (ZK Rollup)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F9783B-1923-B274-8094-AD30BC11768D}"/>
              </a:ext>
            </a:extLst>
          </p:cNvPr>
          <p:cNvSpPr txBox="1"/>
          <p:nvPr/>
        </p:nvSpPr>
        <p:spPr>
          <a:xfrm>
            <a:off x="438150" y="1828294"/>
            <a:ext cx="11076515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Why it works well?</a:t>
            </a:r>
          </a:p>
          <a:p>
            <a:pPr>
              <a:buNone/>
            </a:pP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Low cost &amp; fast finality</a:t>
            </a:r>
            <a:r>
              <a:rPr lang="en-US" dirty="0"/>
              <a:t>: Farmers get rewards cheaply and quickly.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Secure</a:t>
            </a:r>
            <a:r>
              <a:rPr lang="en-US" dirty="0"/>
              <a:t>: Inherits Ethereum’s battle-tested security.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Scalable</a:t>
            </a:r>
            <a:r>
              <a:rPr lang="en-US" dirty="0"/>
              <a:t>: Can handle IoT-scale adoption.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Trustworthy</a:t>
            </a:r>
            <a:r>
              <a:rPr lang="en-US" dirty="0"/>
              <a:t>: Validity proofs mean no need to “trust” sequencers.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Regulatory fit</a:t>
            </a:r>
            <a:r>
              <a:rPr lang="en-US" dirty="0"/>
              <a:t>: Supports non-tradable, utility-only tokens.</a:t>
            </a:r>
          </a:p>
        </p:txBody>
      </p:sp>
    </p:spTree>
    <p:extLst>
      <p:ext uri="{BB962C8B-B14F-4D97-AF65-F5344CB8AC3E}">
        <p14:creationId xmlns:p14="http://schemas.microsoft.com/office/powerpoint/2010/main" val="3247086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CBBBB-699A-D2F8-CD4D-08C256B8F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Key Research Challenges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3B800A4-0D10-98DC-2BB9-66D16B7C12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3095134"/>
                  </p:ext>
                </p:extLst>
              </p:nvPr>
            </p:nvGraphicFramePr>
            <p:xfrm>
              <a:off x="453863" y="1470780"/>
              <a:ext cx="9043610" cy="4480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21805">
                      <a:extLst>
                        <a:ext uri="{9D8B030D-6E8A-4147-A177-3AD203B41FA5}">
                          <a16:colId xmlns:a16="http://schemas.microsoft.com/office/drawing/2014/main" val="3992192150"/>
                        </a:ext>
                      </a:extLst>
                    </a:gridCol>
                    <a:gridCol w="4521805">
                      <a:extLst>
                        <a:ext uri="{9D8B030D-6E8A-4147-A177-3AD203B41FA5}">
                          <a16:colId xmlns:a16="http://schemas.microsoft.com/office/drawing/2014/main" val="3970720971"/>
                        </a:ext>
                      </a:extLst>
                    </a:gridCol>
                  </a:tblGrid>
                  <a:tr h="5752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Challenge</a:t>
                          </a:r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Why It Matters</a:t>
                          </a:r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77800"/>
                      </a:ext>
                    </a:extLst>
                  </a:tr>
                  <a:tr h="1068257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Oracle Problem (IoT Data)</a:t>
                          </a:r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System only works if sensor data is reliable and tamper-proof. Baselines must be fair across diverse farms.</a:t>
                          </a: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1788036"/>
                      </a:ext>
                    </a:extLst>
                  </a:tr>
                  <a:tr h="1068257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Governance of Ecosystem Fund</a:t>
                          </a:r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Who controls the budget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and parameters like </a:t>
                          </a:r>
                          <a14:m>
                            <m:oMath xmlns:m="http://schemas.openxmlformats.org/officeDocument/2006/math"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dirty="0"/>
                            <a:t>? Governance choices affect stability and fairness.</a:t>
                          </a: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466492"/>
                      </a:ext>
                    </a:extLst>
                  </a:tr>
                  <a:tr h="1314777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Behavioral Model Calibration</a:t>
                          </a:r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Farmers’ psychology (risk, social influence) is complex. ABM parameters must be realistic; may need surveys or sensitivity testing.</a:t>
                          </a: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92326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3B800A4-0D10-98DC-2BB9-66D16B7C12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3095134"/>
                  </p:ext>
                </p:extLst>
              </p:nvPr>
            </p:nvGraphicFramePr>
            <p:xfrm>
              <a:off x="453863" y="1470780"/>
              <a:ext cx="9043610" cy="4480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21805">
                      <a:extLst>
                        <a:ext uri="{9D8B030D-6E8A-4147-A177-3AD203B41FA5}">
                          <a16:colId xmlns:a16="http://schemas.microsoft.com/office/drawing/2014/main" val="3992192150"/>
                        </a:ext>
                      </a:extLst>
                    </a:gridCol>
                    <a:gridCol w="4521805">
                      <a:extLst>
                        <a:ext uri="{9D8B030D-6E8A-4147-A177-3AD203B41FA5}">
                          <a16:colId xmlns:a16="http://schemas.microsoft.com/office/drawing/2014/main" val="397072097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Challenge</a:t>
                          </a:r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Why It Matters</a:t>
                          </a:r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77800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Oracle Problem (IoT Data)</a:t>
                          </a:r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System only works if sensor data is reliable and tamper-proof. Baselines must be fair across diverse farms.</a:t>
                          </a: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1788036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Governance of Ecosystem Fund</a:t>
                          </a:r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35" t="-156122" r="-674" b="-123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466492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Behavioral Model Calibration</a:t>
                          </a:r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Farmers’ psychology (risk, social influence) is complex. ABM parameters must be realistic; may need surveys or sensitivity testing.</a:t>
                          </a: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92326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28129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BFDB7-27D3-02F1-5441-209EE2AFC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Recognized by leading experts in digital finance and complex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531C-2C75-DD74-A19B-698C84B9C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9" y="1930400"/>
            <a:ext cx="9971314" cy="4060372"/>
          </a:xfrm>
        </p:spPr>
        <p:txBody>
          <a:bodyPr/>
          <a:lstStyle/>
          <a:p>
            <a:r>
              <a:rPr lang="en-US" dirty="0"/>
              <a:t>This project has attracted early interest and recognition from prominent scholars in the fields of economics, complex systems, and blockchain innovation, including: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Prof. Paolo Tasca — Digital economy &amp; blockchain policy (Previously UCL)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Prof. Christian Catalini — Crypto economics &amp; incentive design (MIT)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 Prof. Didier </a:t>
            </a:r>
            <a:r>
              <a:rPr lang="en-US" b="1" dirty="0" err="1"/>
              <a:t>Sornette</a:t>
            </a:r>
            <a:r>
              <a:rPr lang="en-US" b="1" dirty="0"/>
              <a:t> — Complex systems &amp; risk modeling (Previously ETH Zurich) 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 Prof. Garrick Hileman — Cryptocurrency adoption &amp; macro-financial systems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89247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4762</TotalTime>
  <Words>1523</Words>
  <Application>Microsoft Office PowerPoint</Application>
  <PresentationFormat>Widescreen</PresentationFormat>
  <Paragraphs>153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Arial</vt:lpstr>
      <vt:lpstr>Cambria Math</vt:lpstr>
      <vt:lpstr>Courier New</vt:lpstr>
      <vt:lpstr>Symbol</vt:lpstr>
      <vt:lpstr>Trebuchet MS</vt:lpstr>
      <vt:lpstr>Wingdings</vt:lpstr>
      <vt:lpstr>Wingdings 3</vt:lpstr>
      <vt:lpstr>Facet</vt:lpstr>
      <vt:lpstr>Designing Stable, Non-Speculative Incentives for Sustainable Agriculture using IoT and Distributed Ledgers</vt:lpstr>
      <vt:lpstr>About The Candidate </vt:lpstr>
      <vt:lpstr>A Dual Crisis in Agriculture</vt:lpstr>
      <vt:lpstr>Why Current Solutions Fall Short </vt:lpstr>
      <vt:lpstr>Why Current Solutions Fall Short </vt:lpstr>
      <vt:lpstr>The Solution: An Outcome-Linked Utility Token </vt:lpstr>
      <vt:lpstr>Mechanism Design: A Dynamic, Adoption-Linked Value</vt:lpstr>
      <vt:lpstr>How Tokens Are Minted and Redeemed</vt:lpstr>
      <vt:lpstr>How Tokens Are Minted and Redeemed</vt:lpstr>
      <vt:lpstr>Mechanism</vt:lpstr>
      <vt:lpstr>Mechanism</vt:lpstr>
      <vt:lpstr>Methodology: Agent-Based Model (ABM)</vt:lpstr>
      <vt:lpstr>Staying Outside MiCA – While Still Paying in Euros</vt:lpstr>
      <vt:lpstr>AgriLiraX: Designed to Avoid Speculation &amp; Volatility</vt:lpstr>
      <vt:lpstr>Core Research Questions</vt:lpstr>
      <vt:lpstr>Blockchain decision For The Token </vt:lpstr>
      <vt:lpstr>Key Research Challenges</vt:lpstr>
      <vt:lpstr>Recognized by leading experts in digital finance and complex systems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Abedalrahman Chams Aldeen</dc:creator>
  <cp:lastModifiedBy>Abedalrahman Chams Aldeen</cp:lastModifiedBy>
  <cp:revision>11</cp:revision>
  <dcterms:created xsi:type="dcterms:W3CDTF">2025-09-23T00:13:58Z</dcterms:created>
  <dcterms:modified xsi:type="dcterms:W3CDTF">2025-10-06T15:54:27Z</dcterms:modified>
</cp:coreProperties>
</file>